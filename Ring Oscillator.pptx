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a466c2f4e288abb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a466c2f4e288abb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771bfedded21f55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771bfedded21f55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771bfedded21f551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771bfedded21f551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771bfedded21f551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771bfedded21f55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42195255bde359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42195255bde359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742195255bde359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742195255bde359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42195255bde359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42195255bde359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42195255bde359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42195255bde359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42195255bde359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42195255bde359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42195255bde359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42195255bde359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131e28902504c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2131e28902504c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 Oscillator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405175" y="3598550"/>
            <a:ext cx="2984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Presented By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Madhukar Saini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RISE time and FALL time same for inverter</a:t>
            </a:r>
            <a:endParaRPr baseline="-25000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725" y="971350"/>
            <a:ext cx="4956073" cy="33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7200" y="971350"/>
            <a:ext cx="2159051" cy="208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7200" y="3363050"/>
            <a:ext cx="2159050" cy="9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4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Ring Oscillator</a:t>
            </a:r>
            <a:endParaRPr baseline="-25000"/>
          </a:p>
        </p:txBody>
      </p:sp>
      <p:sp>
        <p:nvSpPr>
          <p:cNvPr id="69" name="Google Shape;69;p15"/>
          <p:cNvSpPr txBox="1"/>
          <p:nvPr/>
        </p:nvSpPr>
        <p:spPr>
          <a:xfrm>
            <a:off x="922600" y="999550"/>
            <a:ext cx="72771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 ring oscillator is a digital/analog timing circuit consisting of an </a:t>
            </a:r>
            <a:r>
              <a:rPr b="1" lang="en" sz="1200">
                <a:solidFill>
                  <a:schemeClr val="dk1"/>
                </a:solidFill>
              </a:rPr>
              <a:t>odd number of inverting stages connected in a closed loop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feedback causes the circuit to oscillate without an external clock.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oscillation frequency is primarily determined by the </a:t>
            </a:r>
            <a:r>
              <a:rPr b="1" lang="en" sz="1200">
                <a:solidFill>
                  <a:schemeClr val="dk1"/>
                </a:solidFill>
              </a:rPr>
              <a:t>propagation delay of each inverter stage</a:t>
            </a:r>
            <a:r>
              <a:rPr lang="en" sz="1200">
                <a:solidFill>
                  <a:schemeClr val="dk1"/>
                </a:solidFill>
              </a:rPr>
              <a:t>. When the number of stages increases the frequency will decrease as each stage introduces delay in the signal path.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350" y="2513925"/>
            <a:ext cx="5599201" cy="215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215575" y="2774875"/>
            <a:ext cx="416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905250" y="2774875"/>
            <a:ext cx="416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1641200" y="2774875"/>
            <a:ext cx="4164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2203950" y="3344650"/>
            <a:ext cx="1187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Inverter1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3978438" y="3344650"/>
            <a:ext cx="1187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Inverter 2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548775" y="3344650"/>
            <a:ext cx="11871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Inverter 3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717800" y="393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8725" y="1009950"/>
            <a:ext cx="7184251" cy="344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184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 with CL = 0 fF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750" y="3933825"/>
            <a:ext cx="4071074" cy="87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6513" y="1062200"/>
            <a:ext cx="7510968" cy="28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16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 with C</a:t>
            </a:r>
            <a:r>
              <a:rPr baseline="-25000" lang="en"/>
              <a:t>L</a:t>
            </a:r>
            <a:r>
              <a:rPr lang="en"/>
              <a:t> = 5 fF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438" y="732825"/>
            <a:ext cx="7257124" cy="33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4">
            <a:alphaModFix/>
          </a:blip>
          <a:srcRect b="0" l="0" r="3157" t="9322"/>
          <a:stretch/>
        </p:blipFill>
        <p:spPr>
          <a:xfrm>
            <a:off x="3228763" y="4050225"/>
            <a:ext cx="2686475" cy="74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 Modification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980275" y="1152475"/>
            <a:ext cx="723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Frequency without any load capacitance at each stage of the inverter.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The the frequency is 16.08GHz.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The frequency with known capacitance 5fF as load at each stage of the inverter is 3.128GHz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Frequency without load capacitance is F</a:t>
            </a:r>
            <a:r>
              <a:rPr baseline="-25000" lang="en" sz="1200">
                <a:solidFill>
                  <a:schemeClr val="dk1"/>
                </a:solidFill>
              </a:rPr>
              <a:t>OSC </a:t>
            </a:r>
            <a:r>
              <a:rPr lang="en" sz="1200">
                <a:solidFill>
                  <a:schemeClr val="dk1"/>
                </a:solidFill>
              </a:rPr>
              <a:t>= 1/(2NRC</a:t>
            </a:r>
            <a:r>
              <a:rPr baseline="-25000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Frequency with load capacitance 5fF at each stage of the inverter  is F</a:t>
            </a:r>
            <a:r>
              <a:rPr baseline="-25000" lang="en" sz="1200">
                <a:solidFill>
                  <a:schemeClr val="dk1"/>
                </a:solidFill>
              </a:rPr>
              <a:t>OSC1 </a:t>
            </a:r>
            <a:r>
              <a:rPr lang="en" sz="1200">
                <a:solidFill>
                  <a:schemeClr val="dk1"/>
                </a:solidFill>
              </a:rPr>
              <a:t>= 1/(2NR(C</a:t>
            </a:r>
            <a:r>
              <a:rPr baseline="-25000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+C</a:t>
            </a:r>
            <a:r>
              <a:rPr baseline="-25000" lang="en" sz="1200">
                <a:solidFill>
                  <a:schemeClr val="dk1"/>
                </a:solidFill>
              </a:rPr>
              <a:t>L</a:t>
            </a:r>
            <a:r>
              <a:rPr lang="en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</a:t>
            </a:r>
            <a:r>
              <a:rPr baseline="-25000" lang="en" sz="1200">
                <a:solidFill>
                  <a:schemeClr val="dk1"/>
                </a:solidFill>
              </a:rPr>
              <a:t>OSC </a:t>
            </a:r>
            <a:r>
              <a:rPr lang="en" sz="1200">
                <a:solidFill>
                  <a:schemeClr val="dk1"/>
                </a:solidFill>
              </a:rPr>
              <a:t>/F</a:t>
            </a:r>
            <a:r>
              <a:rPr baseline="-25000" lang="en" sz="1200">
                <a:solidFill>
                  <a:schemeClr val="dk1"/>
                </a:solidFill>
              </a:rPr>
              <a:t>OSC1 </a:t>
            </a:r>
            <a:r>
              <a:rPr lang="en" sz="1200">
                <a:solidFill>
                  <a:schemeClr val="dk1"/>
                </a:solidFill>
              </a:rPr>
              <a:t>= 1/(2NRC</a:t>
            </a:r>
            <a:r>
              <a:rPr baseline="-25000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)/(1/(2NR(C</a:t>
            </a:r>
            <a:r>
              <a:rPr baseline="-25000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+C</a:t>
            </a:r>
            <a:r>
              <a:rPr baseline="-25000" lang="en" sz="1200">
                <a:solidFill>
                  <a:schemeClr val="dk1"/>
                </a:solidFill>
              </a:rPr>
              <a:t>L</a:t>
            </a:r>
            <a:r>
              <a:rPr lang="en" sz="1200">
                <a:solidFill>
                  <a:schemeClr val="dk1"/>
                </a:solidFill>
              </a:rPr>
              <a:t>)) From F</a:t>
            </a:r>
            <a:r>
              <a:rPr baseline="-25000" lang="en" sz="1200">
                <a:solidFill>
                  <a:schemeClr val="dk1"/>
                </a:solidFill>
              </a:rPr>
              <a:t>OSC</a:t>
            </a:r>
            <a:r>
              <a:rPr lang="en" sz="1200">
                <a:solidFill>
                  <a:schemeClr val="dk1"/>
                </a:solidFill>
              </a:rPr>
              <a:t> = 16.08GHz, F</a:t>
            </a:r>
            <a:r>
              <a:rPr baseline="-25000" lang="en" sz="1200">
                <a:solidFill>
                  <a:schemeClr val="dk1"/>
                </a:solidFill>
              </a:rPr>
              <a:t>OSC1</a:t>
            </a:r>
            <a:r>
              <a:rPr lang="en" sz="1200">
                <a:solidFill>
                  <a:schemeClr val="dk1"/>
                </a:solidFill>
              </a:rPr>
              <a:t> = 3.128GHz and C</a:t>
            </a:r>
            <a:r>
              <a:rPr baseline="-25000" lang="en" sz="1200">
                <a:solidFill>
                  <a:schemeClr val="dk1"/>
                </a:solidFill>
              </a:rPr>
              <a:t>L </a:t>
            </a:r>
            <a:r>
              <a:rPr lang="en" sz="1200">
                <a:solidFill>
                  <a:schemeClr val="dk1"/>
                </a:solidFill>
              </a:rPr>
              <a:t>= 5fF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 = 1.2fF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To make FOSC1 = 5GHz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F</a:t>
            </a:r>
            <a:r>
              <a:rPr baseline="-25000" lang="en" sz="1200">
                <a:solidFill>
                  <a:schemeClr val="dk1"/>
                </a:solidFill>
              </a:rPr>
              <a:t>OSC </a:t>
            </a:r>
            <a:r>
              <a:rPr lang="en" sz="1200">
                <a:solidFill>
                  <a:schemeClr val="dk1"/>
                </a:solidFill>
              </a:rPr>
              <a:t>/F</a:t>
            </a:r>
            <a:r>
              <a:rPr baseline="-25000" lang="en" sz="1200">
                <a:solidFill>
                  <a:schemeClr val="dk1"/>
                </a:solidFill>
              </a:rPr>
              <a:t>OSC1 </a:t>
            </a:r>
            <a:r>
              <a:rPr lang="en" sz="1200">
                <a:solidFill>
                  <a:schemeClr val="dk1"/>
                </a:solidFill>
              </a:rPr>
              <a:t>= 1/(2NRC</a:t>
            </a:r>
            <a:r>
              <a:rPr baseline="-25000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)/(1/(2NR(C</a:t>
            </a:r>
            <a:r>
              <a:rPr baseline="-25000" lang="en" sz="1200">
                <a:solidFill>
                  <a:schemeClr val="dk1"/>
                </a:solidFill>
              </a:rPr>
              <a:t>G</a:t>
            </a:r>
            <a:r>
              <a:rPr lang="en" sz="1200">
                <a:solidFill>
                  <a:schemeClr val="dk1"/>
                </a:solidFill>
              </a:rPr>
              <a:t>+C</a:t>
            </a:r>
            <a:r>
              <a:rPr baseline="-25000" lang="en" sz="1200">
                <a:solidFill>
                  <a:schemeClr val="dk1"/>
                </a:solidFill>
              </a:rPr>
              <a:t>L</a:t>
            </a:r>
            <a:r>
              <a:rPr lang="en" sz="1200">
                <a:solidFill>
                  <a:schemeClr val="dk1"/>
                </a:solidFill>
              </a:rPr>
              <a:t>)) From F</a:t>
            </a:r>
            <a:r>
              <a:rPr baseline="-25000" lang="en" sz="1200">
                <a:solidFill>
                  <a:schemeClr val="dk1"/>
                </a:solidFill>
              </a:rPr>
              <a:t>OSC</a:t>
            </a:r>
            <a:r>
              <a:rPr lang="en" sz="1200">
                <a:solidFill>
                  <a:schemeClr val="dk1"/>
                </a:solidFill>
              </a:rPr>
              <a:t> = 16.08GHz, F</a:t>
            </a:r>
            <a:r>
              <a:rPr baseline="-25000" lang="en" sz="1200">
                <a:solidFill>
                  <a:schemeClr val="dk1"/>
                </a:solidFill>
              </a:rPr>
              <a:t>OSC1</a:t>
            </a:r>
            <a:r>
              <a:rPr lang="en" sz="1200">
                <a:solidFill>
                  <a:schemeClr val="dk1"/>
                </a:solidFill>
              </a:rPr>
              <a:t> = 5GHz and C</a:t>
            </a:r>
            <a:r>
              <a:rPr baseline="-25000" lang="en" sz="1200">
                <a:solidFill>
                  <a:schemeClr val="dk1"/>
                </a:solidFill>
              </a:rPr>
              <a:t>G </a:t>
            </a:r>
            <a:r>
              <a:rPr lang="en" sz="1200">
                <a:solidFill>
                  <a:schemeClr val="dk1"/>
                </a:solidFill>
              </a:rPr>
              <a:t>= 1.2fF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C</a:t>
            </a:r>
            <a:r>
              <a:rPr baseline="-25000" lang="en" sz="1200">
                <a:solidFill>
                  <a:schemeClr val="dk1"/>
                </a:solidFill>
              </a:rPr>
              <a:t>L</a:t>
            </a:r>
            <a:r>
              <a:rPr lang="en" sz="1200">
                <a:solidFill>
                  <a:schemeClr val="dk1"/>
                </a:solidFill>
              </a:rPr>
              <a:t> = 2.695fF</a:t>
            </a:r>
            <a:endParaRPr sz="1200">
              <a:solidFill>
                <a:schemeClr val="dk1"/>
              </a:solidFill>
            </a:endParaRPr>
          </a:p>
          <a:p>
            <a:pPr indent="-29908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200">
                <a:solidFill>
                  <a:schemeClr val="dk1"/>
                </a:solidFill>
              </a:rPr>
              <a:t>As the load capacitance will add delay, the frequency will be modified inversely with load capacitance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21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for Modified Frequency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6675" y="941075"/>
            <a:ext cx="7257098" cy="316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3625" y="4102600"/>
            <a:ext cx="4214675" cy="8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35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Schematic - Changing the delay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350" y="924025"/>
            <a:ext cx="7111699" cy="32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 txBox="1"/>
          <p:nvPr/>
        </p:nvSpPr>
        <p:spPr>
          <a:xfrm>
            <a:off x="922650" y="4310525"/>
            <a:ext cx="72987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Frequency can be changed by changing rise and fall time of inverter by pumping the current to the inverter.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351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- Changing the delay (Id = 200uA)</a:t>
            </a:r>
            <a:endParaRPr/>
          </a:p>
        </p:txBody>
      </p:sp>
      <p:sp>
        <p:nvSpPr>
          <p:cNvPr id="122" name="Google Shape;122;p22"/>
          <p:cNvSpPr txBox="1"/>
          <p:nvPr/>
        </p:nvSpPr>
        <p:spPr>
          <a:xfrm>
            <a:off x="922650" y="4310525"/>
            <a:ext cx="72987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Frequency can be changed by changing rise and fall time of inverter by </a:t>
            </a:r>
            <a:r>
              <a:rPr lang="en" sz="1200">
                <a:solidFill>
                  <a:schemeClr val="dk1"/>
                </a:solidFill>
              </a:rPr>
              <a:t>changing</a:t>
            </a:r>
            <a:r>
              <a:rPr lang="en" sz="1200">
                <a:solidFill>
                  <a:schemeClr val="dk1"/>
                </a:solidFill>
              </a:rPr>
              <a:t> the current pumped to the inverter.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4113" y="3612950"/>
            <a:ext cx="2755774" cy="75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413" y="924025"/>
            <a:ext cx="6953175" cy="26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226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for Process Variation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991800" y="954650"/>
            <a:ext cx="717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Though the </a:t>
            </a:r>
            <a:r>
              <a:rPr lang="en" sz="1200">
                <a:solidFill>
                  <a:schemeClr val="dk1"/>
                </a:solidFill>
              </a:rPr>
              <a:t>ideal</a:t>
            </a:r>
            <a:r>
              <a:rPr lang="en" sz="1200">
                <a:solidFill>
                  <a:schemeClr val="dk1"/>
                </a:solidFill>
              </a:rPr>
              <a:t> capacitance at the output of each inverteris used, the ON resistance of inverter change with the process variation, resulting variation in oscillator frequency for each process.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That is the reason why we generally prefer to use ring oscillator in the loop.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218000" y="2216400"/>
            <a:ext cx="8520600" cy="7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Thank You</a:t>
            </a:r>
            <a:endParaRPr b="1" sz="3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